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F1B2D"/>
                </a:solidFill>
                <a:latin typeface="Inter"/>
              </a:rPr>
              <a:t>Share of 2024 SiC substrate revenue (%) - blue = Chinese vendors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2024 SiC substrate revenue (%)</c:v>
                </c:pt>
              </c:strCache>
            </c:strRef>
          </c:tx>
          <c:dPt>
            <c:idx val="0"/>
            <c:spPr>
              <a:solidFill>
                <a:srgbClr val="C2C0B4"/>
              </a:solidFill>
            </c:spPr>
          </c:dPt>
          <c:dPt>
            <c:idx val="1"/>
            <c:spPr>
              <a:solidFill>
                <a:srgbClr val="2E7BD6"/>
              </a:solidFill>
            </c:spPr>
          </c:dPt>
          <c:dPt>
            <c:idx val="2"/>
            <c:spPr>
              <a:solidFill>
                <a:srgbClr val="2E7BD6"/>
              </a:solidFill>
            </c:spPr>
          </c:dPt>
          <c:dPt>
            <c:idx val="3"/>
            <c:spPr>
              <a:solidFill>
                <a:srgbClr val="C2C0B4"/>
              </a:solidFill>
            </c:spPr>
          </c:dPt>
          <c:dPt>
            <c:idx val="4"/>
            <c:spPr>
              <a:solidFill>
                <a:srgbClr val="C2C0B4"/>
              </a:solidFill>
            </c:spPr>
          </c:dPt>
          <c:cat>
            <c:strRef>
              <c:f>Sheet1!$A$2:$A$6</c:f>
              <c:strCache>
                <c:ptCount val="5"/>
                <c:pt idx="0">
                  <c:v>Wolfspeed</c:v>
                </c:pt>
                <c:pt idx="1">
                  <c:v>TanKeBlue (China)</c:v>
                </c:pt>
                <c:pt idx="2">
                  <c:v>SICC (China)</c:v>
                </c:pt>
                <c:pt idx="3">
                  <c:v>Coherent</c:v>
                </c:pt>
                <c:pt idx="4">
                  <c:v>All others (derived)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33.7</c:v>
                </c:pt>
                <c:pt idx="1">
                  <c:v>17.3</c:v>
                </c:pt>
                <c:pt idx="2">
                  <c:v>17.1</c:v>
                </c:pt>
                <c:pt idx="3">
                  <c:v>13.9</c:v>
                </c:pt>
                <c:pt idx="4">
                  <c:v>18.0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>
                  <a:solidFill>
                    <a:srgbClr val="0F1B2D"/>
                  </a:solidFill>
                  <a:latin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6BA"/>
            </a:solidFill>
          </a:ln>
        </c:spPr>
        <c:txPr>
          <a:bodyPr/>
          <a:lstStyle/>
          <a:p>
            <a:pPr>
              <a:defRPr sz="1100"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26"/>
            <a:ext cx="10566400" cy="4480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26"/>
            <a:ext cx="10566400" cy="4480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26311"/>
            <a:ext cx="10883392" cy="27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FD3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Capstone 12 · AI Research Report on the Semiconductor Industry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354623"/>
            <a:ext cx="10883392" cy="1945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5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 Chips: SiC/GaN Power Semiconductors, the Supply Chain and India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4554177"/>
            <a:ext cx="10883392" cy="29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DCE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AI tools (Perplexity, ChatGPT, Gemini, Claude), 39 checked sources, one verified report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6238262"/>
            <a:ext cx="10883392" cy="238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 Abinaya R ·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 chips and the SiC advantage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42401"/>
            <a:ext cx="3397250" cy="1512815"/>
          </a:xfrm>
          <a:prstGeom prst="roundRect">
            <a:avLst>
              <a:gd name="adj" fmla="val 6506"/>
            </a:avLst>
          </a:prstGeom>
          <a:solidFill>
            <a:srgbClr val="FBFAF7"/>
          </a:solidFill>
          <a:ln w="6350">
            <a:solidFill>
              <a:srgbClr val="DAD6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018" y="1772444"/>
            <a:ext cx="3025279" cy="269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6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Traction inverter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6018" y="2105170"/>
            <a:ext cx="3025279" cy="745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SiC MOSFETs or Si IGBTs, isolated gate drivers and a real-time MCU turn battery DC into motor AC.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97375" y="1542401"/>
            <a:ext cx="3397250" cy="1512815"/>
          </a:xfrm>
          <a:prstGeom prst="roundRect">
            <a:avLst>
              <a:gd name="adj" fmla="val 6506"/>
            </a:avLst>
          </a:prstGeom>
          <a:solidFill>
            <a:srgbClr val="FBFAF7"/>
          </a:solidFill>
          <a:ln w="6350">
            <a:solidFill>
              <a:srgbClr val="DA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27418" y="1772444"/>
            <a:ext cx="3025279" cy="269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6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Battery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27418" y="2105170"/>
            <a:ext cx="3025279" cy="745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Cell-monitor analog front ends, isolation ICs and an MCU track cell voltage, current and charge state.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78775" y="1542401"/>
            <a:ext cx="3397250" cy="1512815"/>
          </a:xfrm>
          <a:prstGeom prst="roundRect">
            <a:avLst>
              <a:gd name="adj" fmla="val 6506"/>
            </a:avLst>
          </a:prstGeom>
          <a:solidFill>
            <a:srgbClr val="FBFAF7"/>
          </a:solidFill>
          <a:ln w="6350">
            <a:solidFill>
              <a:srgbClr val="DAD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08818" y="1772444"/>
            <a:ext cx="3025279" cy="269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6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Charger and DC-DC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08818" y="2105170"/>
            <a:ext cx="3025279" cy="745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 or SiC switches suit on-board chargers and converters; 800 V systems favour 1,200 V SiC.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3337791"/>
            <a:ext cx="3403600" cy="1445202"/>
          </a:xfrm>
          <a:prstGeom prst="roundRect">
            <a:avLst>
              <a:gd name="adj" fmla="val 7030"/>
            </a:avLst>
          </a:prstGeom>
          <a:solidFill>
            <a:srgbClr val="0F1B2D"/>
          </a:solidFill>
          <a:ln/>
        </p:spPr>
      </p:sp>
      <p:sp>
        <p:nvSpPr>
          <p:cNvPr id="13" name="Text 11"/>
          <p:cNvSpPr/>
          <p:nvPr/>
        </p:nvSpPr>
        <p:spPr>
          <a:xfrm>
            <a:off x="1041400" y="3540991"/>
            <a:ext cx="30347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6FD3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&gt;40%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1041400" y="4150592"/>
            <a:ext cx="3034792" cy="454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conduction loss in a simulated SiC inverter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94200" y="3337791"/>
            <a:ext cx="3403600" cy="1445202"/>
          </a:xfrm>
          <a:prstGeom prst="roundRect">
            <a:avLst>
              <a:gd name="adj" fmla="val 7030"/>
            </a:avLst>
          </a:prstGeom>
          <a:solidFill>
            <a:srgbClr val="0F1B2D"/>
          </a:solidFill>
          <a:ln/>
        </p:spPr>
      </p:sp>
      <p:sp>
        <p:nvSpPr>
          <p:cNvPr id="16" name="Text 14"/>
          <p:cNvSpPr/>
          <p:nvPr/>
        </p:nvSpPr>
        <p:spPr>
          <a:xfrm>
            <a:off x="4622800" y="3540991"/>
            <a:ext cx="30347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6FD3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&gt;60%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622800" y="4150592"/>
            <a:ext cx="3034792" cy="240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switching loss versus Si-IGBT (simulation)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75600" y="3337791"/>
            <a:ext cx="3403600" cy="1445202"/>
          </a:xfrm>
          <a:prstGeom prst="roundRect">
            <a:avLst>
              <a:gd name="adj" fmla="val 7030"/>
            </a:avLst>
          </a:prstGeom>
          <a:solidFill>
            <a:srgbClr val="0F1B2D"/>
          </a:solidFill>
          <a:ln/>
        </p:spPr>
      </p:sp>
      <p:sp>
        <p:nvSpPr>
          <p:cNvPr id="19" name="Text 17"/>
          <p:cNvSpPr/>
          <p:nvPr/>
        </p:nvSpPr>
        <p:spPr>
          <a:xfrm>
            <a:off x="8204200" y="3540991"/>
            <a:ext cx="30347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6FD3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&gt;1%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204200" y="4150592"/>
            <a:ext cx="3034792" cy="454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efficiency across the torque-speed curve (simulation)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63"/>
            <a:ext cx="10883392" cy="238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7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simulation study [1], TI [2], NXP [3], Power Systems Design [6]. Vendor claims reach up to 3% (ST, 2016) [8]; state the test conditions.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SiC supply is concentrated in a few firms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39225"/>
            <a:ext cx="3403600" cy="1445202"/>
          </a:xfrm>
          <a:prstGeom prst="roundRect">
            <a:avLst>
              <a:gd name="adj" fmla="val 7030"/>
            </a:avLst>
          </a:prstGeom>
          <a:solidFill>
            <a:srgbClr val="0F1B2D"/>
          </a:solidFill>
          <a:ln/>
        </p:spPr>
      </p:sp>
      <p:sp>
        <p:nvSpPr>
          <p:cNvPr id="4" name="Text 2"/>
          <p:cNvSpPr/>
          <p:nvPr/>
        </p:nvSpPr>
        <p:spPr>
          <a:xfrm>
            <a:off x="1041400" y="1742425"/>
            <a:ext cx="30347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6FD3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41400" y="2352025"/>
            <a:ext cx="3034792" cy="454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2024 SiC substrate revenue held by four companies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94200" y="1539225"/>
            <a:ext cx="3403600" cy="1445202"/>
          </a:xfrm>
          <a:prstGeom prst="roundRect">
            <a:avLst>
              <a:gd name="adj" fmla="val 7030"/>
            </a:avLst>
          </a:prstGeom>
          <a:solidFill>
            <a:srgbClr val="0F1B2D"/>
          </a:solidFill>
          <a:ln/>
        </p:spPr>
      </p:sp>
      <p:sp>
        <p:nvSpPr>
          <p:cNvPr id="7" name="Text 5"/>
          <p:cNvSpPr/>
          <p:nvPr/>
        </p:nvSpPr>
        <p:spPr>
          <a:xfrm>
            <a:off x="4622800" y="1742425"/>
            <a:ext cx="30347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6FD3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34.4%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622800" y="2352025"/>
            <a:ext cx="3034792" cy="454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held by two Chinese vendors, TanKeBlue and SICC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75600" y="1539225"/>
            <a:ext cx="3403600" cy="1445202"/>
          </a:xfrm>
          <a:prstGeom prst="roundRect">
            <a:avLst>
              <a:gd name="adj" fmla="val 7030"/>
            </a:avLst>
          </a:prstGeom>
          <a:solidFill>
            <a:srgbClr val="0F1B2D"/>
          </a:solidFill>
          <a:ln/>
        </p:spPr>
      </p:sp>
      <p:sp>
        <p:nvSpPr>
          <p:cNvPr id="10" name="Text 8"/>
          <p:cNvSpPr/>
          <p:nvPr/>
        </p:nvSpPr>
        <p:spPr>
          <a:xfrm>
            <a:off x="8204200" y="1742425"/>
            <a:ext cx="30347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6FD3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91.9%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04200" y="2352025"/>
            <a:ext cx="3034792" cy="454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2023 SiC power devices held by the top five; ST leads with 32.6%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3263829"/>
            <a:ext cx="10883392" cy="59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Wolfspeed leads substrates with 33.7%; ST leads devices with 32.6%. Carmakers also need AEC-Q101 and IATF 16949 qualification, so new suppliers take time to win orders.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63"/>
            <a:ext cx="10883392" cy="238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7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TrendForce [11][38]; sums and the 34.4% figure calculated by hand from the published shares.</a:t>
            </a:r>
            <a:endParaRPr lang="en-US" sz="1200" dirty="0"/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813816" y="3931920"/>
          <a:ext cx="10881360" cy="2194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India: 12 projects approved, a SiC fab planned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39227"/>
            <a:ext cx="5194300" cy="1230601"/>
          </a:xfrm>
          <a:prstGeom prst="roundRect">
            <a:avLst>
              <a:gd name="adj" fmla="val 8256"/>
            </a:avLst>
          </a:prstGeom>
          <a:solidFill>
            <a:srgbClr val="0F1B2D"/>
          </a:solidFill>
          <a:ln/>
        </p:spPr>
      </p:sp>
      <p:sp>
        <p:nvSpPr>
          <p:cNvPr id="4" name="Text 2"/>
          <p:cNvSpPr/>
          <p:nvPr/>
        </p:nvSpPr>
        <p:spPr>
          <a:xfrm>
            <a:off x="1041400" y="1742427"/>
            <a:ext cx="4879213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6FD3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90–95%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41400" y="2352027"/>
            <a:ext cx="4879213" cy="240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semiconductor demand imported (NITI Aayog)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84900" y="1539227"/>
            <a:ext cx="5194300" cy="1230601"/>
          </a:xfrm>
          <a:prstGeom prst="roundRect">
            <a:avLst>
              <a:gd name="adj" fmla="val 8256"/>
            </a:avLst>
          </a:prstGeom>
          <a:solidFill>
            <a:srgbClr val="0F1B2D"/>
          </a:solidFill>
          <a:ln/>
        </p:spPr>
      </p:sp>
      <p:sp>
        <p:nvSpPr>
          <p:cNvPr id="7" name="Text 5"/>
          <p:cNvSpPr/>
          <p:nvPr/>
        </p:nvSpPr>
        <p:spPr>
          <a:xfrm>
            <a:off x="6413500" y="1742427"/>
            <a:ext cx="4879213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6FD3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13500" y="2352027"/>
            <a:ext cx="4879213" cy="240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ISM projects approved, about ₹1.64 lakh crore [35]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5975" y="3052403"/>
            <a:ext cx="3397250" cy="1512815"/>
          </a:xfrm>
          <a:prstGeom prst="roundRect">
            <a:avLst>
              <a:gd name="adj" fmla="val 6506"/>
            </a:avLst>
          </a:prstGeom>
          <a:solidFill>
            <a:srgbClr val="FBFAF7"/>
          </a:solidFill>
          <a:ln w="6350">
            <a:solidFill>
              <a:srgbClr val="DAD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6018" y="3282446"/>
            <a:ext cx="3025279" cy="269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6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SiCSem, Bhubaneswar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46018" y="3615172"/>
            <a:ext cx="3025279" cy="745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commercial SiC fab; 60,000 wafers a year; operation expected 2027–28.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97375" y="3052403"/>
            <a:ext cx="3397250" cy="1512815"/>
          </a:xfrm>
          <a:prstGeom prst="roundRect">
            <a:avLst>
              <a:gd name="adj" fmla="val 6506"/>
            </a:avLst>
          </a:prstGeom>
          <a:solidFill>
            <a:srgbClr val="FBFAF7"/>
          </a:solidFill>
          <a:ln w="6350">
            <a:solidFill>
              <a:srgbClr val="DAD6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7418" y="3282446"/>
            <a:ext cx="3025279" cy="269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6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Tata–PSMC, Dholera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27418" y="3615172"/>
            <a:ext cx="3025279" cy="745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₹91,000 crore silicon logic fab; Tata Assam packaging plant adds 48 million chips a day.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78775" y="3052403"/>
            <a:ext cx="3397250" cy="1512815"/>
          </a:xfrm>
          <a:prstGeom prst="roundRect">
            <a:avLst>
              <a:gd name="adj" fmla="val 6506"/>
            </a:avLst>
          </a:prstGeom>
          <a:solidFill>
            <a:srgbClr val="FBFAF7"/>
          </a:solidFill>
          <a:ln w="6350">
            <a:solidFill>
              <a:srgbClr val="DAD6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08818" y="3282446"/>
            <a:ext cx="3025279" cy="269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6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CG Power–Renesas–Stars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08818" y="3615172"/>
            <a:ext cx="3025279" cy="745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OSAT at Sanand for auto and industrial chips; Kaynes adds a second OSAT.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4847792"/>
            <a:ext cx="10883392" cy="256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D67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is not producing: yields, qualification and customers come next. ISM 2.0 was approved in July 2026 (about ₹1.27 lakh crore).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61"/>
            <a:ext cx="10883392" cy="238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7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NITI Aayog [17], PMO [14], PM India [28][35], Evertiq [32].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risks and what the evidence says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345" y="1550772"/>
          <a:ext cx="10554855" cy="4051589"/>
        </p:xfrm>
        <a:graphic>
          <a:graphicData uri="http://schemas.openxmlformats.org/drawingml/2006/table">
            <a:tbl>
              <a:tblPr/>
              <a:tblGrid>
                <a:gridCol w="3518285"/>
                <a:gridCol w="3518285"/>
                <a:gridCol w="3518285"/>
              </a:tblGrid>
              <a:tr h="438222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Risk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Evidence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Caution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</a:tr>
              <a:tr h="722673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6E6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Import dependency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India imports 90–95% [17]; NITI scenario: US$240 billion by 2035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5D67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Scenario, not a forecast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2673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6E6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Oversupply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SiC revenue fell 9% in 2024; Renesas suspended SiC work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5D67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Prices volatile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2673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6E6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Tight qualified parts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Automotive-grade wafers may fall short of announced capacity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5D67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McKinsey forecast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2673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6E6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Geopolitics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China restricts gallium, germanium, antimony exports (Korea Times, Dec 2024)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5D67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Policy can change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2673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6E6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Execution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Plants rely on imported equipment and materials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5D67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Approval is not output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64"/>
            <a:ext cx="10883392" cy="238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7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NITI Aayog [17], TrendForce [11], Renesas [20], McKinsey [21], Korea Times [37], Global SMT [24].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109465"/>
            <a:ext cx="10883392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5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found and what AI got wrong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2835889"/>
            <a:ext cx="5350129" cy="29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FD3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96620" y="3211801"/>
            <a:ext cx="5258689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5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SiC leads EV inverters; GaN fits chargers and DC-DC.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5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is concentrated; Chinese vendors are gaining share.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5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 has real approvals; imports fall only as plants qualify and ship.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184900" y="2835889"/>
            <a:ext cx="5350129" cy="29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FD3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verification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68720" y="3211801"/>
            <a:ext cx="52586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5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Perplexity: 9 of 20 claims fully verified.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5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tool gave 1.4× more dies for 200 mm wafers; the hand check gives 1.78×.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5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errors and unsupported claims logged.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5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Re-check on 24 Oct 2026: 23 of 34 sources passed outright; 11 were fixed or replaced.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6238264"/>
            <a:ext cx="10883392" cy="238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Lesson: ask several tools, verify every number, label scenarios and projections.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tone 12 – EV Chips Executive Summary">
  <a:themeElements>
    <a:clrScheme name="Capstone 12 – EV Chips Executive Summary">
      <a:dk1>
        <a:srgbClr val="1B2430"/>
      </a:dk1>
      <a:lt1>
        <a:srgbClr val="F5F3EE"/>
      </a:lt1>
      <a:dk2>
        <a:srgbClr val="525860"/>
      </a:dk2>
      <a:lt2>
        <a:srgbClr val="DFDEDB"/>
      </a:lt2>
      <a:accent1>
        <a:srgbClr val="6FD3CF"/>
      </a:accent1>
      <a:accent2>
        <a:srgbClr val="0B6E6D"/>
      </a:accent2>
      <a:accent3>
        <a:srgbClr val="DCE3EA"/>
      </a:accent3>
      <a:accent4>
        <a:srgbClr val="5D6773"/>
      </a:accent4>
      <a:accent5>
        <a:srgbClr val="A9B6C6"/>
      </a:accent5>
      <a:accent6>
        <a:srgbClr val="9AA0A6"/>
      </a:accent6>
      <a:hlink>
        <a:srgbClr val="0563C1"/>
      </a:hlink>
      <a:folHlink>
        <a:srgbClr val="954F72"/>
      </a:folHlink>
    </a:clrScheme>
    <a:fontScheme name="Capstone 12 – EV Chips Executive Summary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12 – EV Chips Executive Summary</dc:title>
  <dc:subject/>
  <dc:creator/>
  <cp:lastModifiedBy/>
  <cp:revision>1</cp:revision>
  <dcterms:created xsi:type="dcterms:W3CDTF">2026-10-19T06:04:22Z</dcterms:created>
  <dcterms:modified xsi:type="dcterms:W3CDTF">2026-10-19T06:04:22Z</dcterms:modified>
</cp:coreProperties>
</file>